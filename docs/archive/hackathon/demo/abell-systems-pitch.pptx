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100584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1B3D"/>
                </a:solidFill>
                <a:latin typeface="Arial"/>
              </a:rPr>
              <a:t>ABELL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11B3D"/>
                </a:solidFill>
                <a:latin typeface="Arial"/>
              </a:rPr>
              <a:t>Patent Innovation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FC4"/>
                </a:solidFill>
                <a:latin typeface="Arial"/>
              </a:rPr>
              <a:t>Turning Scientific Data Into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7C3FC4"/>
                </a:solidFill>
                <a:latin typeface="Arial"/>
              </a:rPr>
              <a:t>TRACK: THE TASKMASTER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E6888"/>
                </a:solidFill>
                <a:latin typeface="Arial"/>
              </a:rPr>
              <a:t>Lydia Bares, PhD  ·  Valentín Liñeiro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7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7C3FC4"/>
                </a:solidFill>
                <a:latin typeface="Arial"/>
              </a:rPr>
              <a:t>MIT · FOUNDED 1861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111B3D"/>
                </a:solidFill>
                <a:latin typeface="Arial"/>
              </a:rPr>
              <a:t>MENS ET MANUS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5E6888"/>
                </a:solidFill>
                <a:latin typeface="Arial"/>
              </a:rPr>
              <a:t>Mind and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70332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Knowledge should not only be understood.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It should be applied.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7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11B3D"/>
                </a:solidFill>
                <a:latin typeface="Arial"/>
              </a:rPr>
              <a:t>DISCOVER. BUILD. TRANSFORM.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8897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From electrical engineering to computing, from radar to artificial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intelligence — turning scientific discovery into technology that changes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847" y="4206240"/>
            <a:ext cx="283464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ELECTRICAL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8487" y="420624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78527" y="4206240"/>
            <a:ext cx="283464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3167" y="420624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3207" y="4206240"/>
            <a:ext cx="283464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ARTIFICIAL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2286000"/>
            <a:ext cx="9601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65176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11B3D"/>
                </a:solidFill>
                <a:latin typeface="Arial"/>
              </a:rPr>
              <a:t>The problem is no longer access to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383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E0217A"/>
                </a:solidFill>
                <a:latin typeface="Arial"/>
              </a:rPr>
              <a:t>It is making sense of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7" y="82296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9C98AC"/>
                </a:solidFill>
                <a:latin typeface="Arial"/>
              </a:rPr>
              <a:t>SEARCHING </a:t>
            </a:r>
            <a:r>
              <a:rPr sz="4000">
                <a:solidFill>
                  <a:srgbClr val="E0217A"/>
                </a:solidFill>
              </a:rPr>
              <a:t>→ </a:t>
            </a:r>
            <a:r>
              <a:rPr sz="4000" b="1">
                <a:solidFill>
                  <a:srgbClr val="7C3FC4"/>
                </a:solidFill>
                <a:latin typeface="Arial"/>
              </a:rPr>
              <a:t>DISCOVERING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01752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What if, instead of spending hours searching through hundreds of patents,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a researcher could simply ask a question — and have an intelligent system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investigate the technological landscape for them?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48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02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11B3D"/>
                </a:solidFill>
                <a:latin typeface="Arial"/>
              </a:rPr>
              <a:t>Solid-State Electrolytes for EV Batteries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6667" y="2194560"/>
            <a:ext cx="21945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1227" y="219456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1267" y="2194560"/>
            <a:ext cx="21945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INVESTIGATE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5827" y="219456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194560"/>
            <a:ext cx="21945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0427" y="219456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0467" y="2194560"/>
            <a:ext cx="2194560" cy="594360"/>
          </a:xfrm>
          <a:prstGeom prst="roundRect">
            <a:avLst>
              <a:gd name="adj" fmla="val 25000"/>
            </a:avLst>
          </a:prstGeom>
          <a:solidFill>
            <a:srgbClr val="E0217A"/>
          </a:solidFill>
          <a:ln w="12700">
            <a:solidFill>
              <a:srgbClr val="E02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DISCOVER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10360152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7C3FC4"/>
                </a:solidFill>
                <a:latin typeface="Arial"/>
              </a:rPr>
              <a:t>PRESENTER CUE CARD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11B3D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1. Open patent-agent-sedvtsa23q-uc.a.run.app (or localhost:5173 for the mock demo)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2. Technology domain:  Solid-state electrolytes for EV batteries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3. Research query:  solid electrolyte interphase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4. Click “Analyze opportunity” — narrate while the agent researches, clusters,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    invents, and adversarially stress-tests the candidate live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5. Open “View evidence” and “How the agent reached this result” to show the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B3D"/>
                </a:solidFill>
                <a:latin typeface="Arial"/>
              </a:rPr>
              <a:t>    cited prior-art patents and the causal chain — nothing is a black 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7" y="822960"/>
            <a:ext cx="640080" cy="640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09547" y="2103120"/>
            <a:ext cx="210312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2667" y="210312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2707" y="2103120"/>
            <a:ext cx="210312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5827" y="210312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103120"/>
            <a:ext cx="210312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11B3D"/>
                </a:solidFill>
                <a:latin typeface="Arial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8987" y="2103120"/>
            <a:ext cx="320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7BFE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9027" y="2103120"/>
            <a:ext cx="2103120" cy="594360"/>
          </a:xfrm>
          <a:prstGeom prst="roundRect">
            <a:avLst>
              <a:gd name="adj" fmla="val 25000"/>
            </a:avLst>
          </a:prstGeom>
          <a:solidFill>
            <a:srgbClr val="E0217A"/>
          </a:solidFill>
          <a:ln w="12700">
            <a:solidFill>
              <a:srgbClr val="E02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08960"/>
            <a:ext cx="8897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3A3F55"/>
                </a:solidFill>
                <a:latin typeface="Arial"/>
              </a:rPr>
              <a:t>The value of scientific information is not in the documents we collect.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3A3F55"/>
                </a:solidFill>
                <a:latin typeface="Arial"/>
              </a:rPr>
              <a:t>It is in the connections we discover.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11B3D"/>
                </a:solidFill>
                <a:latin typeface="Arial"/>
              </a:rP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7C3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B3D"/>
                </a:solidFill>
                <a:latin typeface="Arial"/>
              </a:rPr>
              <a:t>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E6888"/>
                </a:solidFill>
                <a:latin typeface="Arial"/>
              </a:rPr>
              <a:t>Gathers relevant patents for the technology domain (Google Patents / BigQuery)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7C3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B3D"/>
                </a:solidFill>
                <a:latin typeface="Arial"/>
              </a:rPr>
              <a:t>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E6888"/>
                </a:solidFill>
                <a:latin typeface="Arial"/>
              </a:rPr>
              <a:t>Deterministic white-space scoring by CPC family — no LLM, fully reproducible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7C3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B3D"/>
                </a:solidFill>
                <a:latin typeface="Arial"/>
              </a:rPr>
              <a:t>Inventor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E6888"/>
                </a:solidFill>
                <a:latin typeface="Arial"/>
              </a:rPr>
              <a:t>Proposes a concrete, patentable candidate invention for the white space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7C3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51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B3D"/>
                </a:solidFill>
                <a:latin typeface="Arial"/>
              </a:rPr>
              <a:t>Adversarial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E6888"/>
                </a:solidFill>
                <a:latin typeface="Arial"/>
              </a:rPr>
              <a:t>Attacks its own candidate against real prior art — only survivors proceed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7C3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66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1B3D"/>
                </a:solidFill>
                <a:latin typeface="Arial"/>
              </a:rPr>
              <a:t>Governor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663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E6888"/>
                </a:solidFill>
                <a:latin typeface="Arial"/>
              </a:rPr>
              <a:t>Scores novelty, prior-art risk, differentiation &amp; evidence, citing patent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4247" y="7315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DC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15803D"/>
                </a:solidFill>
                <a:latin typeface="Arial"/>
              </a:rPr>
              <a:t>● LIVE ON GOOGLE CLOUD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11B3D"/>
                </a:solidFill>
                <a:latin typeface="Arial"/>
              </a:rPr>
              <a:t>Built on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3FC4"/>
                </a:solidFill>
                <a:latin typeface="Consolas"/>
              </a:rPr>
              <a:t>patent-agent-sedvtsa23q-uc.a.run.app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108960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7C3FC4"/>
                </a:solidFill>
                <a:latin typeface="Arial"/>
              </a:rPr>
              <a:t>Google ADK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3108960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7C3FC4"/>
                </a:solidFill>
                <a:latin typeface="Arial"/>
              </a:rPr>
              <a:t>Gemini 3.5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1225296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7C3FC4"/>
                </a:solidFill>
                <a:latin typeface="Arial"/>
              </a:rPr>
              <a:t>Cloud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88736" y="310896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7C3FC4"/>
                </a:solidFill>
                <a:latin typeface="Arial"/>
              </a:rPr>
              <a:t>Real BigQuery patent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023360"/>
            <a:ext cx="8897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Zero mock in production: real Google Patents data via a materialized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BigQuery domain index, a Gemini-3.5-backed agent graph built natively on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Google ADK, deployed live on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7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11B3D"/>
                </a:solidFill>
                <a:latin typeface="Arial"/>
              </a:rPr>
              <a:t>AI FOR SCIENTIFIC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1321308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PATENTS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2868" y="3291840"/>
            <a:ext cx="1568196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9664" y="3291840"/>
            <a:ext cx="1568196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CHEMISTRY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66460" y="3291840"/>
            <a:ext cx="1197864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2924" y="3291840"/>
            <a:ext cx="2308860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PHARMACEUTICALS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30384" y="3291840"/>
            <a:ext cx="1815084" cy="502920"/>
          </a:xfrm>
          <a:prstGeom prst="roundRect">
            <a:avLst>
              <a:gd name="adj" fmla="val 50000"/>
            </a:avLst>
          </a:prstGeom>
          <a:solidFill>
            <a:srgbClr val="F0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7C3FC4"/>
                </a:solidFill>
                <a:latin typeface="Arial"/>
              </a:rP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8897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Our vision: AI systems that work alongside researchers — continuously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3A3F55"/>
                </a:solidFill>
                <a:latin typeface="Arial"/>
              </a:rPr>
              <a:t>transforming massive scientific knowledge into useful intelligence.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182880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718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11B3D"/>
                </a:solidFill>
                <a:latin typeface="Arial"/>
              </a:rPr>
              <a:t>ABELL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C3FC4"/>
                </a:solidFill>
                <a:latin typeface="Arial"/>
              </a:rPr>
              <a:t>Turning Scientific Data Into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5E6888"/>
                </a:solidFill>
                <a:latin typeface="Arial"/>
              </a:rPr>
              <a:t>Mens et Manus — reimagined for the age of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111B3D"/>
                </a:solidFill>
                <a:latin typeface="Arial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